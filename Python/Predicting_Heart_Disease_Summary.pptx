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4" r:id="rId5"/>
    <p:sldId id="269" r:id="rId6"/>
    <p:sldId id="259" r:id="rId7"/>
    <p:sldId id="267" r:id="rId8"/>
    <p:sldId id="268" r:id="rId9"/>
    <p:sldId id="271" r:id="rId10"/>
    <p:sldId id="272" r:id="rId11"/>
    <p:sldId id="262" r:id="rId12"/>
    <p:sldId id="27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F4BBA-4E0C-4620-B146-C056837C36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F69B81-C301-4CA4-B3D3-6478AAEE22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7CF8C8-DEF1-48EC-9A13-0D15982B6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AF2BE-18DA-43A6-A0BC-538662FBEF86}" type="datetimeFigureOut">
              <a:rPr lang="en-US" smtClean="0"/>
              <a:t>10/1/2023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4609B-C25B-45FB-8471-9F6A9B542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6D13CA-9EF1-4B15-AAF7-8C9B2E606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30CDE-CE62-4031-93AA-61E3A520D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360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9FAF3-BE42-4CD8-A485-3BF5EDF0C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53C2C-F059-47EE-AA2E-7B672C999C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57E93-EAC5-44E7-A49B-E0F5F68FE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AF2BE-18DA-43A6-A0BC-538662FBEF86}" type="datetimeFigureOut">
              <a:rPr lang="en-US" smtClean="0"/>
              <a:t>10/1/2023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1BB256-AE70-49EE-B835-CA1A1C464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E3ED12-5FC3-4542-A67C-86AC964A1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30CDE-CE62-4031-93AA-61E3A520D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391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42C90-5742-4EB0-93FB-4FDF9AAC9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EAD716-A2DB-47F1-8EDE-F229675F13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D57E8-5A3A-40FA-B30D-AA5B0D9B5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AF2BE-18DA-43A6-A0BC-538662FBEF86}" type="datetimeFigureOut">
              <a:rPr lang="en-US" smtClean="0"/>
              <a:t>10/1/2023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192AD4-9DEC-4F33-85B0-A5AEC8FEF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74980E-FB35-48A8-83E3-110BBEFE0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30CDE-CE62-4031-93AA-61E3A520D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57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4C438-C7E0-47E8-A01D-D52A9D0AC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7F58EE-49A9-4D50-854C-9A6D501BDC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AB5914-9B18-4A87-B3B4-33DDFBB356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708E24-789A-4B8B-88F7-1A007FD77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AF2BE-18DA-43A6-A0BC-538662FBEF86}" type="datetimeFigureOut">
              <a:rPr lang="en-US" smtClean="0"/>
              <a:t>10/1/2023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496E8-BBAE-4B3C-823B-FD8F6B0C8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146EB9-01DE-42F0-A5AD-B965459D2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30CDE-CE62-4031-93AA-61E3A520D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214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F7FAE-AD89-436B-AD9D-8095AD9A5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D48B59-20F2-4E92-A3DE-628497A2D3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24FFAF-A54C-4A85-8C69-2F2E71BC67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9912FD-3C26-4AAE-B506-BC69932F5B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8C5940-BBF3-4057-A9B5-ACBA7E7967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C49EFF-1655-49CE-B694-867828426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AF2BE-18DA-43A6-A0BC-538662FBEF86}" type="datetimeFigureOut">
              <a:rPr lang="en-US" smtClean="0"/>
              <a:t>10/1/2023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16378B-AEA1-4099-A859-C6EEF9066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1F63C4-6097-484A-B7FD-5547C9665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30CDE-CE62-4031-93AA-61E3A520D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69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D3C16-6BC1-40EA-890B-1078C9BDB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8A944E-72C5-49CC-B6D3-75A871BF8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AF2BE-18DA-43A6-A0BC-538662FBEF86}" type="datetimeFigureOut">
              <a:rPr lang="en-US" smtClean="0"/>
              <a:t>10/1/2023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A5B15F-9F40-4DF9-943A-A9F2C8390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C1CEF5-2B93-4AFA-A911-41D107656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30CDE-CE62-4031-93AA-61E3A520D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522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C00CB7-AE90-4B4B-AD88-0ED2FE031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AF2BE-18DA-43A6-A0BC-538662FBEF86}" type="datetimeFigureOut">
              <a:rPr lang="en-US" smtClean="0"/>
              <a:t>10/1/2023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657A6-1092-4670-9802-C149C5DCA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F2126D-105F-4C4D-A75F-41CB0F024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30CDE-CE62-4031-93AA-61E3A520D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594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C89D3-E313-4B52-8F64-865D100F7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8A95B7-0F49-4FFF-832D-414B51B298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DEDF77-B0E6-4E2F-9CAA-B91119D441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F3927B-23BF-46F4-9EA9-8B6D2F191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AF2BE-18DA-43A6-A0BC-538662FBEF86}" type="datetimeFigureOut">
              <a:rPr lang="en-US" smtClean="0"/>
              <a:t>10/1/2023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F256E8-4577-4AEE-98A8-6C9C44C9C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F1B897-075D-47AA-A488-F68D01AB0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30CDE-CE62-4031-93AA-61E3A520D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2880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44E7A-7D36-4403-94C5-AD4D5FB8F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80E797-B7FB-41F7-AF64-5A55BEE69B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07620A-E3DF-40E1-ABD8-05358DEFD8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A81092-738D-43DA-8DC5-42E10E69B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AF2BE-18DA-43A6-A0BC-538662FBEF86}" type="datetimeFigureOut">
              <a:rPr lang="en-US" smtClean="0"/>
              <a:t>10/1/2023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6287A4-DBDD-42BF-A1AB-A748DC3EB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A37DFC-6BB8-4D37-8405-FB70EA333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30CDE-CE62-4031-93AA-61E3A520D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1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3B96B-FB27-41E2-B784-01C436ACC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1B457-C5EF-474B-99A8-B826592E84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BDE432-169B-4E3C-8CBA-6DE132DCB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AF2BE-18DA-43A6-A0BC-538662FBEF86}" type="datetimeFigureOut">
              <a:rPr lang="en-US" smtClean="0"/>
              <a:t>10/1/2023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87209-E7FF-4F51-AB14-4D31B86CA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D97B33-18D5-41A4-8496-B6F154EDF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30CDE-CE62-4031-93AA-61E3A520D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870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C5986E-74B8-4D7B-871E-C43440ED0F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542A75-9D6B-46AF-AE1D-7C1D156B51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EA031A-80EA-4857-BCFD-304D707C2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AF2BE-18DA-43A6-A0BC-538662FBEF86}" type="datetimeFigureOut">
              <a:rPr lang="en-US" smtClean="0"/>
              <a:t>10/1/2023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04B6D2-83C5-4FA6-9E09-062B2A95F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2D863B-E804-400B-BC7D-F52422607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30CDE-CE62-4031-93AA-61E3A520D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561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A7BEF7-BFBD-4142-96BE-E2D37EE42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32046A-D906-4D8E-AFDC-1C9CCD46F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5C5821-65C5-4B59-B84B-FA6E5BD8E2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4AF2BE-18DA-43A6-A0BC-538662FBEF86}" type="datetimeFigureOut">
              <a:rPr lang="en-US" smtClean="0"/>
              <a:t>10/1/2023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5F25DA-298E-4304-8A5F-1D9BB75CB0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E94617-FDA0-4D59-9EC6-AE9FE3DEEC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530CDE-CE62-4031-93AA-61E3A520D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731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dataaspirant.com/2017/03/02/how-logistic-regression-model-works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aspirant.com/how-logistic-regression-model-works/" TargetMode="External"/><Relationship Id="rId2" Type="http://schemas.openxmlformats.org/officeDocument/2006/relationships/hyperlink" Target="https://www.kaggle.com/datasets/kamilpytlak/personal-key-indicators-of-heart-disease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3EDD119B-6BFA-4C3F-90CE-97DAFD604E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77F617-79BC-4F1B-A35C-5E0F06A92C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4128" y="965199"/>
            <a:ext cx="6766078" cy="4927601"/>
          </a:xfrm>
        </p:spPr>
        <p:txBody>
          <a:bodyPr anchor="ctr">
            <a:normAutofit/>
          </a:bodyPr>
          <a:lstStyle/>
          <a:p>
            <a:pPr algn="r"/>
            <a:br>
              <a:rPr lang="en-US" sz="4800" dirty="0">
                <a:solidFill>
                  <a:schemeClr val="bg1"/>
                </a:solidFill>
              </a:rPr>
            </a:br>
            <a:r>
              <a:rPr lang="en-US" sz="4800" dirty="0">
                <a:solidFill>
                  <a:schemeClr val="bg1"/>
                </a:solidFill>
              </a:rPr>
              <a:t>Predicting Heart Disease with Personal Health Indicators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A0ADA5-A3FD-40E6-BBA0-02EB8AEE17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38729" y="965198"/>
            <a:ext cx="2707937" cy="4927602"/>
          </a:xfrm>
        </p:spPr>
        <p:txBody>
          <a:bodyPr anchor="ctr">
            <a:normAutofit/>
          </a:bodyPr>
          <a:lstStyle/>
          <a:p>
            <a:pPr algn="l"/>
            <a:r>
              <a:rPr lang="en-US" sz="2000" dirty="0">
                <a:solidFill>
                  <a:srgbClr val="FFC000"/>
                </a:solidFill>
              </a:rPr>
              <a:t>By: James Makanas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C1572D0-F0FD-4D84-8F82-DC59140EB9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38160" y="2057399"/>
            <a:ext cx="0" cy="27432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22298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7FA33FF-088D-4F16-95A2-2C64D353D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376EFB1-01CF-419F-ABF1-2AF02BBFC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709160" cy="6858000"/>
          </a:xfrm>
          <a:prstGeom prst="rect">
            <a:avLst/>
          </a:prstGeom>
          <a:solidFill>
            <a:schemeClr val="tx1"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F9DEA15-78BD-4750-AA18-B9F28A6D5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284331" cy="6858000"/>
          </a:xfrm>
          <a:custGeom>
            <a:avLst/>
            <a:gdLst>
              <a:gd name="connsiteX0" fmla="*/ 0 w 4319042"/>
              <a:gd name="connsiteY0" fmla="*/ 0 h 6858000"/>
              <a:gd name="connsiteX1" fmla="*/ 1142888 w 4319042"/>
              <a:gd name="connsiteY1" fmla="*/ 0 h 6858000"/>
              <a:gd name="connsiteX2" fmla="*/ 4319042 w 4319042"/>
              <a:gd name="connsiteY2" fmla="*/ 6858000 h 6858000"/>
              <a:gd name="connsiteX3" fmla="*/ 0 w 431904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19042" h="6858000">
                <a:moveTo>
                  <a:pt x="0" y="0"/>
                </a:moveTo>
                <a:lnTo>
                  <a:pt x="1142888" y="0"/>
                </a:lnTo>
                <a:lnTo>
                  <a:pt x="431904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F625FB-B18E-49A7-B78C-41D761F51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0100"/>
            <a:ext cx="3282696" cy="5257800"/>
          </a:xfrm>
        </p:spPr>
        <p:txBody>
          <a:bodyPr>
            <a:normAutofit/>
          </a:bodyPr>
          <a:lstStyle/>
          <a:p>
            <a:r>
              <a:rPr lang="en-US" sz="4100" dirty="0">
                <a:solidFill>
                  <a:schemeClr val="bg1"/>
                </a:solidFill>
              </a:rPr>
              <a:t>Background Information</a:t>
            </a:r>
            <a:br>
              <a:rPr lang="en-US" sz="4100" dirty="0">
                <a:solidFill>
                  <a:schemeClr val="bg1"/>
                </a:solidFill>
              </a:rPr>
            </a:br>
            <a:endParaRPr lang="en-US" sz="410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475DC-06DE-425D-8786-E27A20768E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2674" y="800100"/>
            <a:ext cx="6024654" cy="525780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EA3CDD-4ECA-4B2A-BF35-02C83AFD71D4}"/>
              </a:ext>
            </a:extLst>
          </p:cNvPr>
          <p:cNvSpPr txBox="1"/>
          <p:nvPr/>
        </p:nvSpPr>
        <p:spPr>
          <a:xfrm>
            <a:off x="5824064" y="1687516"/>
            <a:ext cx="5251508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2020 CDC Health Status Survey of 401,958 adults for the Behavioral Risk Factor Surveillance System (BRFSS)</a:t>
            </a: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US" sz="2400" dirty="0"/>
              <a:t>Originally had 279 columns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Dataset trimmed to 391,795 rows with 18 columns potentially related to heart disease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50867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7FA33FF-088D-4F16-95A2-2C64D353D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376EFB1-01CF-419F-ABF1-2AF02BBFC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709160" cy="6858000"/>
          </a:xfrm>
          <a:prstGeom prst="rect">
            <a:avLst/>
          </a:prstGeom>
          <a:solidFill>
            <a:schemeClr val="tx1"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F9DEA15-78BD-4750-AA18-B9F28A6D5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284331" cy="6858000"/>
          </a:xfrm>
          <a:custGeom>
            <a:avLst/>
            <a:gdLst>
              <a:gd name="connsiteX0" fmla="*/ 0 w 4319042"/>
              <a:gd name="connsiteY0" fmla="*/ 0 h 6858000"/>
              <a:gd name="connsiteX1" fmla="*/ 1142888 w 4319042"/>
              <a:gd name="connsiteY1" fmla="*/ 0 h 6858000"/>
              <a:gd name="connsiteX2" fmla="*/ 4319042 w 4319042"/>
              <a:gd name="connsiteY2" fmla="*/ 6858000 h 6858000"/>
              <a:gd name="connsiteX3" fmla="*/ 0 w 431904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19042" h="6858000">
                <a:moveTo>
                  <a:pt x="0" y="0"/>
                </a:moveTo>
                <a:lnTo>
                  <a:pt x="1142888" y="0"/>
                </a:lnTo>
                <a:lnTo>
                  <a:pt x="431904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F01F63-51F8-49FB-BDF2-C1F22A025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640080"/>
            <a:ext cx="3282696" cy="52578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Data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0500AC-9DD9-4A36-90CD-F66A6EEEA2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2308" y="1540219"/>
            <a:ext cx="6451134" cy="1295261"/>
          </a:xfrm>
        </p:spPr>
        <p:txBody>
          <a:bodyPr anchor="ctr">
            <a:normAutofit/>
          </a:bodyPr>
          <a:lstStyle/>
          <a:p>
            <a:r>
              <a:rPr lang="en-US" sz="2000" dirty="0"/>
              <a:t>Dependent variable: Reported having coronary heart disease or myocardial infarction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800" dirty="0"/>
              <a:t>Binary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800" dirty="0"/>
              <a:t>Categorical</a:t>
            </a:r>
          </a:p>
          <a:p>
            <a:pPr lvl="2"/>
            <a:endParaRPr lang="en-US" sz="1600" dirty="0"/>
          </a:p>
          <a:p>
            <a:pPr lvl="1"/>
            <a:endParaRPr lang="en-US" sz="2000" dirty="0"/>
          </a:p>
          <a:p>
            <a:endParaRPr lang="en-US" sz="20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E8768A8-DBA5-4DCA-887A-4C35A4BF8402}"/>
              </a:ext>
            </a:extLst>
          </p:cNvPr>
          <p:cNvSpPr txBox="1">
            <a:spLocks/>
          </p:cNvSpPr>
          <p:nvPr/>
        </p:nvSpPr>
        <p:spPr>
          <a:xfrm>
            <a:off x="4890516" y="3429000"/>
            <a:ext cx="7348015" cy="2172749"/>
          </a:xfrm>
          <a:prstGeom prst="rect">
            <a:avLst/>
          </a:prstGeom>
        </p:spPr>
        <p:txBody>
          <a:bodyPr vert="horz" lIns="91440" tIns="45720" rIns="91440" bIns="45720" numCol="2" rtlCol="0" anchor="ctr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0" dirty="0"/>
              <a:t>Independent variables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7200" dirty="0"/>
              <a:t>BMI (continuous)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7200" dirty="0"/>
              <a:t>Smoking (categorical)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7200" dirty="0"/>
              <a:t>Alcohol Drinking (categorical)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7200" dirty="0"/>
              <a:t>Stroke (categorical)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7200" dirty="0"/>
              <a:t>Physical Health (continuous)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7200" dirty="0"/>
              <a:t>Mental Health (continuous)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7200" dirty="0"/>
              <a:t>Difficulty Walking (categorical)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7200" dirty="0"/>
              <a:t>Sex (categorical)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7200" dirty="0"/>
              <a:t>Age Category (categorical)</a:t>
            </a:r>
          </a:p>
          <a:p>
            <a:pPr lvl="1"/>
            <a:endParaRPr lang="en-US" sz="7200" dirty="0"/>
          </a:p>
          <a:p>
            <a:pPr lvl="1">
              <a:buFont typeface="Wingdings" panose="05000000000000000000" pitchFamily="2" charset="2"/>
              <a:buChar char="q"/>
            </a:pPr>
            <a:endParaRPr lang="en-US" sz="7200" dirty="0"/>
          </a:p>
          <a:p>
            <a:pPr lvl="1">
              <a:buFont typeface="Wingdings" panose="05000000000000000000" pitchFamily="2" charset="2"/>
              <a:buChar char="q"/>
            </a:pPr>
            <a:endParaRPr lang="en-US" sz="7200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7200" dirty="0"/>
              <a:t>Diabetic (categorical)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7200" dirty="0"/>
              <a:t>Physical Activity (categorical)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7200" dirty="0"/>
              <a:t>General Health (categorical)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7200" dirty="0"/>
              <a:t>Sleep Time (continuous)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7200" dirty="0"/>
              <a:t>Asthma (categorical)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7200" dirty="0"/>
              <a:t>Kidney Disease (categorical)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7200" dirty="0"/>
              <a:t>Skin Cancer (categorical)</a:t>
            </a:r>
          </a:p>
          <a:p>
            <a:pPr lvl="2"/>
            <a:endParaRPr lang="en-US" sz="8000" dirty="0"/>
          </a:p>
          <a:p>
            <a:pPr lvl="1"/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64087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E961F1-4A28-4A5F-BBD4-6E400E5E6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 bwMode="white">
          <a:xfrm>
            <a:off x="0" y="272357"/>
            <a:ext cx="12188824" cy="0"/>
          </a:xfrm>
          <a:prstGeom prst="line">
            <a:avLst/>
          </a:prstGeom>
          <a:ln w="508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7F57BEA8-497D-4AA8-8A18-BDCD696B2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68596"/>
            <a:ext cx="12192000" cy="173555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3D5C7D-B13C-49DF-B68C-FFDCE6900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073" y="489439"/>
            <a:ext cx="11139854" cy="93044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Primary Objectives</a:t>
            </a:r>
            <a:endParaRPr lang="en-US" sz="34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82415D3-DDE5-4D63-8CB3-23A5EC581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4400" y="1479733"/>
            <a:ext cx="2743200" cy="0"/>
          </a:xfrm>
          <a:prstGeom prst="line">
            <a:avLst/>
          </a:prstGeom>
          <a:ln w="19050">
            <a:solidFill>
              <a:schemeClr val="bg1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D7193FB-6AE6-4B3B-8F89-56B55DD63B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 bwMode="white">
          <a:xfrm>
            <a:off x="0" y="2201402"/>
            <a:ext cx="12188824" cy="0"/>
          </a:xfrm>
          <a:prstGeom prst="line">
            <a:avLst/>
          </a:prstGeom>
          <a:ln w="508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C240CF6-C242-4D1B-9D27-967EFAE59303}"/>
              </a:ext>
            </a:extLst>
          </p:cNvPr>
          <p:cNvSpPr txBox="1"/>
          <p:nvPr/>
        </p:nvSpPr>
        <p:spPr>
          <a:xfrm>
            <a:off x="1912500" y="2644170"/>
            <a:ext cx="836382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dirty="0"/>
              <a:t>Utilize the relevant health status indicators to create a binary classification model that predicts heart disease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3200" dirty="0"/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dirty="0"/>
              <a:t>Go through the necessary preprocessing steps to prepare the data and then the model selection, tuning, and validation process</a:t>
            </a:r>
          </a:p>
        </p:txBody>
      </p:sp>
    </p:spTree>
    <p:extLst>
      <p:ext uri="{BB962C8B-B14F-4D97-AF65-F5344CB8AC3E}">
        <p14:creationId xmlns:p14="http://schemas.microsoft.com/office/powerpoint/2010/main" val="268576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E961F1-4A28-4A5F-BBD4-6E400E5E6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 bwMode="white">
          <a:xfrm>
            <a:off x="0" y="272357"/>
            <a:ext cx="12188824" cy="0"/>
          </a:xfrm>
          <a:prstGeom prst="line">
            <a:avLst/>
          </a:prstGeom>
          <a:ln w="508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7F57BEA8-497D-4AA8-8A18-BDCD696B2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68596"/>
            <a:ext cx="12192000" cy="173555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3D5C7D-B13C-49DF-B68C-FFDCE6900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073" y="489439"/>
            <a:ext cx="11139854" cy="93044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400" dirty="0">
                <a:solidFill>
                  <a:schemeClr val="bg1"/>
                </a:solidFill>
              </a:rPr>
              <a:t>Methodology: Data Preprocessing</a:t>
            </a:r>
            <a:endParaRPr lang="en-US" sz="34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82415D3-DDE5-4D63-8CB3-23A5EC581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4400" y="1479733"/>
            <a:ext cx="2743200" cy="0"/>
          </a:xfrm>
          <a:prstGeom prst="line">
            <a:avLst/>
          </a:prstGeom>
          <a:ln w="19050">
            <a:solidFill>
              <a:schemeClr val="bg1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D7193FB-6AE6-4B3B-8F89-56B55DD63B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 bwMode="white">
          <a:xfrm>
            <a:off x="0" y="2201402"/>
            <a:ext cx="12188824" cy="0"/>
          </a:xfrm>
          <a:prstGeom prst="line">
            <a:avLst/>
          </a:prstGeom>
          <a:ln w="508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A2D3734-6084-4401-BAC0-139D0341B076}"/>
              </a:ext>
            </a:extLst>
          </p:cNvPr>
          <p:cNvSpPr txBox="1"/>
          <p:nvPr/>
        </p:nvSpPr>
        <p:spPr>
          <a:xfrm>
            <a:off x="536199" y="3178067"/>
            <a:ext cx="42088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missing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near-zero variance </a:t>
            </a:r>
            <a:r>
              <a:rPr lang="en-US"/>
              <a:t>predictors out of </a:t>
            </a:r>
            <a:r>
              <a:rPr lang="en-US" dirty="0"/>
              <a:t>numerical variables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collinearity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dirty="0"/>
              <a:t>Highest correlation coefficient: .43</a:t>
            </a:r>
          </a:p>
        </p:txBody>
      </p:sp>
      <p:pic>
        <p:nvPicPr>
          <p:cNvPr id="6" name="Picture 5" descr="A picture containing timeline&#10;&#10;Description automatically generated">
            <a:extLst>
              <a:ext uri="{FF2B5EF4-FFF2-40B4-BE49-F238E27FC236}">
                <a16:creationId xmlns:a16="http://schemas.microsoft.com/office/drawing/2014/main" id="{B70B4969-357A-4996-B216-1CF2029D33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5039" y="2942229"/>
            <a:ext cx="6920888" cy="3426332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B356EA97-19EE-48A9-B2F4-84972C8F132A}"/>
              </a:ext>
            </a:extLst>
          </p:cNvPr>
          <p:cNvSpPr/>
          <p:nvPr/>
        </p:nvSpPr>
        <p:spPr>
          <a:xfrm>
            <a:off x="7588648" y="3828434"/>
            <a:ext cx="234552" cy="235566"/>
          </a:xfrm>
          <a:prstGeom prst="ellipse">
            <a:avLst/>
          </a:prstGeom>
          <a:noFill/>
          <a:ln w="25400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0A817C6-B354-4A1B-8013-75EF1BC4E140}"/>
              </a:ext>
            </a:extLst>
          </p:cNvPr>
          <p:cNvSpPr/>
          <p:nvPr/>
        </p:nvSpPr>
        <p:spPr>
          <a:xfrm>
            <a:off x="6974430" y="4110143"/>
            <a:ext cx="234552" cy="235566"/>
          </a:xfrm>
          <a:prstGeom prst="ellipse">
            <a:avLst/>
          </a:prstGeom>
          <a:noFill/>
          <a:ln w="25400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907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E961F1-4A28-4A5F-BBD4-6E400E5E6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 bwMode="white">
          <a:xfrm>
            <a:off x="0" y="272357"/>
            <a:ext cx="12188824" cy="0"/>
          </a:xfrm>
          <a:prstGeom prst="line">
            <a:avLst/>
          </a:prstGeom>
          <a:ln w="508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7F57BEA8-497D-4AA8-8A18-BDCD696B2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68596"/>
            <a:ext cx="12192000" cy="173555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3D5C7D-B13C-49DF-B68C-FFDCE6900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073" y="489439"/>
            <a:ext cx="11139854" cy="93044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400" dirty="0">
                <a:solidFill>
                  <a:schemeClr val="bg1"/>
                </a:solidFill>
              </a:rPr>
              <a:t>Methodology: Transforming Skewed Numerical Variables</a:t>
            </a:r>
            <a:endParaRPr lang="en-US" sz="34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82415D3-DDE5-4D63-8CB3-23A5EC581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4400" y="1479733"/>
            <a:ext cx="2743200" cy="0"/>
          </a:xfrm>
          <a:prstGeom prst="line">
            <a:avLst/>
          </a:prstGeom>
          <a:ln w="19050">
            <a:solidFill>
              <a:schemeClr val="bg1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D7193FB-6AE6-4B3B-8F89-56B55DD63B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 bwMode="white">
          <a:xfrm>
            <a:off x="0" y="2201402"/>
            <a:ext cx="12188824" cy="0"/>
          </a:xfrm>
          <a:prstGeom prst="line">
            <a:avLst/>
          </a:prstGeom>
          <a:ln w="508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0DE2C74-9184-4BE3-B17A-52C1F24A48D8}"/>
              </a:ext>
            </a:extLst>
          </p:cNvPr>
          <p:cNvSpPr txBox="1"/>
          <p:nvPr/>
        </p:nvSpPr>
        <p:spPr>
          <a:xfrm>
            <a:off x="1329515" y="2345256"/>
            <a:ext cx="355133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Before Yeo-Johnson</a:t>
            </a:r>
          </a:p>
          <a:p>
            <a:pPr algn="ctr"/>
            <a:endParaRPr lang="en-US" sz="1600" b="1" dirty="0"/>
          </a:p>
          <a:p>
            <a:r>
              <a:rPr lang="en-US" sz="1600" b="1" dirty="0"/>
              <a:t>Variable	        	          Skewness 		         Coefficient</a:t>
            </a:r>
          </a:p>
          <a:p>
            <a:r>
              <a:rPr lang="en-US" sz="1600" dirty="0"/>
              <a:t>BMI:			</a:t>
            </a:r>
            <a:r>
              <a:rPr lang="en-US" sz="1600" dirty="0">
                <a:highlight>
                  <a:srgbClr val="FFFF00"/>
                </a:highlight>
              </a:rPr>
              <a:t>1.33</a:t>
            </a:r>
          </a:p>
          <a:p>
            <a:r>
              <a:rPr lang="en-US" sz="1600" dirty="0" err="1"/>
              <a:t>PhysicalHealth</a:t>
            </a:r>
            <a:r>
              <a:rPr lang="en-US" sz="1600" dirty="0"/>
              <a:t>: 		</a:t>
            </a:r>
            <a:r>
              <a:rPr lang="en-US" sz="1600" dirty="0">
                <a:highlight>
                  <a:srgbClr val="FFFF00"/>
                </a:highlight>
              </a:rPr>
              <a:t>2.60</a:t>
            </a:r>
          </a:p>
          <a:p>
            <a:r>
              <a:rPr lang="en-US" sz="1600" dirty="0" err="1"/>
              <a:t>MentalHealth</a:t>
            </a:r>
            <a:r>
              <a:rPr lang="en-US" sz="1600" dirty="0"/>
              <a:t>:		</a:t>
            </a:r>
            <a:r>
              <a:rPr lang="en-US" sz="1600" dirty="0">
                <a:highlight>
                  <a:srgbClr val="FFFF00"/>
                </a:highlight>
              </a:rPr>
              <a:t>2.33</a:t>
            </a:r>
          </a:p>
          <a:p>
            <a:r>
              <a:rPr lang="en-US" sz="1600" dirty="0" err="1"/>
              <a:t>SleepTime</a:t>
            </a:r>
            <a:r>
              <a:rPr lang="en-US" sz="1600" dirty="0"/>
              <a:t>:			0.68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9DDCB66-0322-4D99-8E4E-156031A0EE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9688946" y="-1459345"/>
            <a:ext cx="121920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BMI 1.332431 PhysicalHealth 2.603973 MentalHealth 2.331112 SleepTime 0.679035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08AA8B-8257-4E0E-93FF-B712DCD851E3}"/>
              </a:ext>
            </a:extLst>
          </p:cNvPr>
          <p:cNvSpPr txBox="1"/>
          <p:nvPr/>
        </p:nvSpPr>
        <p:spPr>
          <a:xfrm>
            <a:off x="7311146" y="2345256"/>
            <a:ext cx="3551339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After Yeo-Johnson</a:t>
            </a:r>
          </a:p>
          <a:p>
            <a:pPr algn="ctr"/>
            <a:endParaRPr lang="en-US" sz="1600" b="1" dirty="0"/>
          </a:p>
          <a:p>
            <a:r>
              <a:rPr lang="en-US" sz="1600" b="1" dirty="0"/>
              <a:t>Variable	        	          Skewness 		         Coefficient</a:t>
            </a:r>
          </a:p>
          <a:p>
            <a:r>
              <a:rPr lang="en-US" sz="1600" dirty="0"/>
              <a:t>BMI:			</a:t>
            </a:r>
            <a:r>
              <a:rPr lang="en-US" sz="1600" dirty="0">
                <a:highlight>
                  <a:srgbClr val="FFFF00"/>
                </a:highlight>
              </a:rPr>
              <a:t>-0.01</a:t>
            </a:r>
          </a:p>
          <a:p>
            <a:r>
              <a:rPr lang="en-US" sz="1600" dirty="0" err="1"/>
              <a:t>PhysicalHealth</a:t>
            </a:r>
            <a:r>
              <a:rPr lang="en-US" sz="1600" dirty="0"/>
              <a:t>: 		</a:t>
            </a:r>
            <a:r>
              <a:rPr lang="en-US" sz="1600" dirty="0">
                <a:highlight>
                  <a:srgbClr val="FFFF00"/>
                </a:highlight>
              </a:rPr>
              <a:t>1.00</a:t>
            </a:r>
          </a:p>
          <a:p>
            <a:r>
              <a:rPr lang="en-US" sz="1600" dirty="0" err="1"/>
              <a:t>MentalHealth</a:t>
            </a:r>
            <a:r>
              <a:rPr lang="en-US" sz="1600" dirty="0"/>
              <a:t>:		</a:t>
            </a:r>
            <a:r>
              <a:rPr lang="en-US" sz="1600" dirty="0">
                <a:highlight>
                  <a:srgbClr val="FFFF00"/>
                </a:highlight>
              </a:rPr>
              <a:t>0.72</a:t>
            </a:r>
          </a:p>
          <a:p>
            <a:r>
              <a:rPr lang="en-US" sz="1600" dirty="0" err="1"/>
              <a:t>SleepTime</a:t>
            </a:r>
            <a:r>
              <a:rPr lang="en-US" sz="1600" dirty="0"/>
              <a:t>:			0.68</a:t>
            </a:r>
          </a:p>
          <a:p>
            <a:endParaRPr lang="en-US" dirty="0"/>
          </a:p>
        </p:txBody>
      </p:sp>
      <p:pic>
        <p:nvPicPr>
          <p:cNvPr id="7" name="Picture 6" descr="Chart, histogram&#10;&#10;Description automatically generated">
            <a:extLst>
              <a:ext uri="{FF2B5EF4-FFF2-40B4-BE49-F238E27FC236}">
                <a16:creationId xmlns:a16="http://schemas.microsoft.com/office/drawing/2014/main" id="{1EA53145-5107-4253-945C-6D84FDB038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607" y="4407359"/>
            <a:ext cx="3551338" cy="2419784"/>
          </a:xfrm>
          <a:prstGeom prst="rect">
            <a:avLst/>
          </a:prstGeom>
        </p:spPr>
      </p:pic>
      <p:pic>
        <p:nvPicPr>
          <p:cNvPr id="10" name="Picture 9" descr="Chart, histogram&#10;&#10;Description automatically generated">
            <a:extLst>
              <a:ext uri="{FF2B5EF4-FFF2-40B4-BE49-F238E27FC236}">
                <a16:creationId xmlns:a16="http://schemas.microsoft.com/office/drawing/2014/main" id="{EDFDB56D-2A88-4E87-A0A7-47C6CF5194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5237" y="4407358"/>
            <a:ext cx="3551338" cy="2419785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1D43209-4D0B-43C8-A716-E3BC37F8CC00}"/>
              </a:ext>
            </a:extLst>
          </p:cNvPr>
          <p:cNvCxnSpPr>
            <a:cxnSpLocks/>
          </p:cNvCxnSpPr>
          <p:nvPr/>
        </p:nvCxnSpPr>
        <p:spPr>
          <a:xfrm flipH="1">
            <a:off x="3223491" y="5378267"/>
            <a:ext cx="1657363" cy="8839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0571316-8C28-444D-9C39-100B4F2328A7}"/>
              </a:ext>
            </a:extLst>
          </p:cNvPr>
          <p:cNvSpPr txBox="1"/>
          <p:nvPr/>
        </p:nvSpPr>
        <p:spPr>
          <a:xfrm>
            <a:off x="4724400" y="5107709"/>
            <a:ext cx="8728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Skewed right</a:t>
            </a:r>
          </a:p>
        </p:txBody>
      </p:sp>
    </p:spTree>
    <p:extLst>
      <p:ext uri="{BB962C8B-B14F-4D97-AF65-F5344CB8AC3E}">
        <p14:creationId xmlns:p14="http://schemas.microsoft.com/office/powerpoint/2010/main" val="29885318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E961F1-4A28-4A5F-BBD4-6E400E5E6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 bwMode="white">
          <a:xfrm>
            <a:off x="0" y="272357"/>
            <a:ext cx="12188824" cy="0"/>
          </a:xfrm>
          <a:prstGeom prst="line">
            <a:avLst/>
          </a:prstGeom>
          <a:ln w="508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7F57BEA8-497D-4AA8-8A18-BDCD696B2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68596"/>
            <a:ext cx="12192000" cy="173555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3D5C7D-B13C-49DF-B68C-FFDCE6900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073" y="489439"/>
            <a:ext cx="11139854" cy="93044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400" dirty="0">
                <a:solidFill>
                  <a:schemeClr val="bg1"/>
                </a:solidFill>
              </a:rPr>
              <a:t>Methodology: Model Selection</a:t>
            </a:r>
            <a:endParaRPr lang="en-US" sz="34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82415D3-DDE5-4D63-8CB3-23A5EC581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4400" y="1479733"/>
            <a:ext cx="2743200" cy="0"/>
          </a:xfrm>
          <a:prstGeom prst="line">
            <a:avLst/>
          </a:prstGeom>
          <a:ln w="19050">
            <a:solidFill>
              <a:schemeClr val="bg1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D7193FB-6AE6-4B3B-8F89-56B55DD63B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 bwMode="white">
          <a:xfrm>
            <a:off x="0" y="2201402"/>
            <a:ext cx="12188824" cy="0"/>
          </a:xfrm>
          <a:prstGeom prst="line">
            <a:avLst/>
          </a:prstGeom>
          <a:ln w="508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E9A7337-0457-40FB-A143-F0FB97A4F036}"/>
              </a:ext>
            </a:extLst>
          </p:cNvPr>
          <p:cNvSpPr txBox="1"/>
          <p:nvPr/>
        </p:nvSpPr>
        <p:spPr>
          <a:xfrm>
            <a:off x="768206" y="2910302"/>
            <a:ext cx="481528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Model Type Selected: Logistic Regression</a:t>
            </a:r>
          </a:p>
          <a:p>
            <a:pPr algn="ctr"/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Good for binary classification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dirty="0"/>
              <a:t>1: Heart disease present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dirty="0"/>
              <a:t>0: No heart disease present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Estimates the relationship between the binary dependent variable and the independent features selected</a:t>
            </a:r>
          </a:p>
          <a:p>
            <a:endParaRPr lang="en-US" dirty="0"/>
          </a:p>
        </p:txBody>
      </p:sp>
      <p:pic>
        <p:nvPicPr>
          <p:cNvPr id="5" name="Picture 4" descr="A picture containing text, clipart, vector graphics&#10;&#10;Description automatically generated">
            <a:extLst>
              <a:ext uri="{FF2B5EF4-FFF2-40B4-BE49-F238E27FC236}">
                <a16:creationId xmlns:a16="http://schemas.microsoft.com/office/drawing/2014/main" id="{275FCD4C-EA43-4D8A-84EE-A6D36654F6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4412" y="2910302"/>
            <a:ext cx="5329382" cy="266469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F9CC94B-4F5F-4764-B457-5306B22F8994}"/>
              </a:ext>
            </a:extLst>
          </p:cNvPr>
          <p:cNvSpPr txBox="1"/>
          <p:nvPr/>
        </p:nvSpPr>
        <p:spPr>
          <a:xfrm>
            <a:off x="6414380" y="5574993"/>
            <a:ext cx="46894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i="0" dirty="0">
                <a:solidFill>
                  <a:srgbClr val="757575"/>
                </a:solidFill>
                <a:effectLst/>
                <a:latin typeface="sohne"/>
              </a:rPr>
              <a:t>(Source: </a:t>
            </a:r>
            <a:r>
              <a:rPr lang="en-US" sz="1000" b="0" i="0" u="sng" dirty="0">
                <a:effectLst/>
                <a:latin typeface="sohne"/>
                <a:hlinkClick r:id="rId3"/>
              </a:rPr>
              <a:t>http://dataaspirant.com/2017/03/02/how-logistic-regression-model-works/</a:t>
            </a:r>
            <a:r>
              <a:rPr lang="en-US" sz="1000" b="0" i="0" dirty="0">
                <a:solidFill>
                  <a:srgbClr val="757575"/>
                </a:solidFill>
                <a:effectLst/>
                <a:latin typeface="sohne"/>
              </a:rPr>
              <a:t>)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4197862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E961F1-4A28-4A5F-BBD4-6E400E5E6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 bwMode="white">
          <a:xfrm>
            <a:off x="0" y="272357"/>
            <a:ext cx="12188824" cy="0"/>
          </a:xfrm>
          <a:prstGeom prst="line">
            <a:avLst/>
          </a:prstGeom>
          <a:ln w="508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7F57BEA8-497D-4AA8-8A18-BDCD696B2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68596"/>
            <a:ext cx="12192000" cy="173555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3D5C7D-B13C-49DF-B68C-FFDCE6900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073" y="489439"/>
            <a:ext cx="11139854" cy="93044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400" dirty="0">
                <a:solidFill>
                  <a:schemeClr val="bg1"/>
                </a:solidFill>
              </a:rPr>
              <a:t>Methodology: Model Training and Validation</a:t>
            </a:r>
            <a:endParaRPr lang="en-US" sz="34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82415D3-DDE5-4D63-8CB3-23A5EC581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4400" y="1479733"/>
            <a:ext cx="2743200" cy="0"/>
          </a:xfrm>
          <a:prstGeom prst="line">
            <a:avLst/>
          </a:prstGeom>
          <a:ln w="19050">
            <a:solidFill>
              <a:schemeClr val="bg1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D7193FB-6AE6-4B3B-8F89-56B55DD63B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 bwMode="white">
          <a:xfrm>
            <a:off x="0" y="2201402"/>
            <a:ext cx="12188824" cy="0"/>
          </a:xfrm>
          <a:prstGeom prst="line">
            <a:avLst/>
          </a:prstGeom>
          <a:ln w="508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634169C3-1795-4F57-AADA-BAF06CA1A281}"/>
              </a:ext>
            </a:extLst>
          </p:cNvPr>
          <p:cNvSpPr/>
          <p:nvPr/>
        </p:nvSpPr>
        <p:spPr>
          <a:xfrm>
            <a:off x="998290" y="2597099"/>
            <a:ext cx="4538444" cy="156035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Total Data: 319,795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304CB23-D5D4-4F51-871B-6DD9C7E8968B}"/>
              </a:ext>
            </a:extLst>
          </p:cNvPr>
          <p:cNvSpPr/>
          <p:nvPr/>
        </p:nvSpPr>
        <p:spPr>
          <a:xfrm>
            <a:off x="857584" y="4553147"/>
            <a:ext cx="2289855" cy="156035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Training Split:</a:t>
            </a:r>
          </a:p>
          <a:p>
            <a:pPr algn="ctr"/>
            <a:r>
              <a:rPr lang="en-US" dirty="0"/>
              <a:t>223,856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CE6B9C4-5C6F-49E8-8588-1EB6E2B23A10}"/>
              </a:ext>
            </a:extLst>
          </p:cNvPr>
          <p:cNvSpPr/>
          <p:nvPr/>
        </p:nvSpPr>
        <p:spPr>
          <a:xfrm>
            <a:off x="3392966" y="4553147"/>
            <a:ext cx="2289855" cy="156035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Test Split:</a:t>
            </a:r>
          </a:p>
          <a:p>
            <a:pPr algn="ctr"/>
            <a:r>
              <a:rPr lang="en-US" dirty="0"/>
              <a:t>95,939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6C2CD65-DD3C-497C-BEB5-D9C0AC092D8C}"/>
              </a:ext>
            </a:extLst>
          </p:cNvPr>
          <p:cNvSpPr txBox="1"/>
          <p:nvPr/>
        </p:nvSpPr>
        <p:spPr>
          <a:xfrm>
            <a:off x="1045847" y="5650343"/>
            <a:ext cx="19133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Used to develop the model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E19C2F4-562D-4E03-8E9F-E54FFE9E7095}"/>
              </a:ext>
            </a:extLst>
          </p:cNvPr>
          <p:cNvSpPr txBox="1"/>
          <p:nvPr/>
        </p:nvSpPr>
        <p:spPr>
          <a:xfrm>
            <a:off x="3581229" y="5650343"/>
            <a:ext cx="19133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Used to measure model performance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245892A-629A-465C-9B6C-537D07BB9056}"/>
              </a:ext>
            </a:extLst>
          </p:cNvPr>
          <p:cNvCxnSpPr/>
          <p:nvPr/>
        </p:nvCxnSpPr>
        <p:spPr>
          <a:xfrm>
            <a:off x="2002510" y="4157451"/>
            <a:ext cx="0" cy="3956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47B085A-DB58-4B2E-A059-09F419ADD75F}"/>
              </a:ext>
            </a:extLst>
          </p:cNvPr>
          <p:cNvCxnSpPr/>
          <p:nvPr/>
        </p:nvCxnSpPr>
        <p:spPr>
          <a:xfrm>
            <a:off x="4537892" y="4157451"/>
            <a:ext cx="0" cy="3956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8086CC3E-6496-4358-9069-21EC3139E082}"/>
              </a:ext>
            </a:extLst>
          </p:cNvPr>
          <p:cNvSpPr txBox="1"/>
          <p:nvPr/>
        </p:nvSpPr>
        <p:spPr>
          <a:xfrm>
            <a:off x="6613236" y="2597099"/>
            <a:ext cx="446116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Data Split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70% of the data will be used within model development.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30% of the data will be used to measure model performance after the model was developed.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split allows for a large sample for both training and testing. This also allows for additional model validation prior to evaluating model performance on test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2232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E961F1-4A28-4A5F-BBD4-6E400E5E6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 bwMode="white">
          <a:xfrm>
            <a:off x="0" y="272357"/>
            <a:ext cx="12188824" cy="0"/>
          </a:xfrm>
          <a:prstGeom prst="line">
            <a:avLst/>
          </a:prstGeom>
          <a:ln w="508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7F57BEA8-497D-4AA8-8A18-BDCD696B2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68596"/>
            <a:ext cx="12192000" cy="173555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3D5C7D-B13C-49DF-B68C-FFDCE6900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073" y="489439"/>
            <a:ext cx="11139854" cy="93044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400" dirty="0">
                <a:solidFill>
                  <a:schemeClr val="bg1"/>
                </a:solidFill>
              </a:rPr>
              <a:t>Methodology: Model Training and Validation</a:t>
            </a:r>
            <a:endParaRPr lang="en-US" sz="34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82415D3-DDE5-4D63-8CB3-23A5EC581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4400" y="1479733"/>
            <a:ext cx="2743200" cy="0"/>
          </a:xfrm>
          <a:prstGeom prst="line">
            <a:avLst/>
          </a:prstGeom>
          <a:ln w="19050">
            <a:solidFill>
              <a:schemeClr val="bg1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D7193FB-6AE6-4B3B-8F89-56B55DD63B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 bwMode="white">
          <a:xfrm>
            <a:off x="0" y="2201402"/>
            <a:ext cx="12188824" cy="0"/>
          </a:xfrm>
          <a:prstGeom prst="line">
            <a:avLst/>
          </a:prstGeom>
          <a:ln w="508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634169C3-1795-4F57-AADA-BAF06CA1A281}"/>
              </a:ext>
            </a:extLst>
          </p:cNvPr>
          <p:cNvSpPr/>
          <p:nvPr/>
        </p:nvSpPr>
        <p:spPr>
          <a:xfrm>
            <a:off x="933226" y="2410692"/>
            <a:ext cx="4461161" cy="94319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Total Data: 319,795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304CB23-D5D4-4F51-871B-6DD9C7E8968B}"/>
              </a:ext>
            </a:extLst>
          </p:cNvPr>
          <p:cNvSpPr/>
          <p:nvPr/>
        </p:nvSpPr>
        <p:spPr>
          <a:xfrm>
            <a:off x="738124" y="3906092"/>
            <a:ext cx="2250862" cy="94319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Training Split:</a:t>
            </a:r>
          </a:p>
          <a:p>
            <a:pPr algn="ctr"/>
            <a:r>
              <a:rPr lang="en-US" dirty="0"/>
              <a:t>223,856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CE6B9C4-5C6F-49E8-8588-1EB6E2B23A10}"/>
              </a:ext>
            </a:extLst>
          </p:cNvPr>
          <p:cNvSpPr/>
          <p:nvPr/>
        </p:nvSpPr>
        <p:spPr>
          <a:xfrm>
            <a:off x="3347397" y="3906092"/>
            <a:ext cx="2250862" cy="94319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Test Split:</a:t>
            </a:r>
          </a:p>
          <a:p>
            <a:pPr algn="ctr"/>
            <a:r>
              <a:rPr lang="en-US" dirty="0"/>
              <a:t>95,939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245892A-629A-465C-9B6C-537D07BB9056}"/>
              </a:ext>
            </a:extLst>
          </p:cNvPr>
          <p:cNvCxnSpPr>
            <a:cxnSpLocks/>
          </p:cNvCxnSpPr>
          <p:nvPr/>
        </p:nvCxnSpPr>
        <p:spPr>
          <a:xfrm>
            <a:off x="1937446" y="3353887"/>
            <a:ext cx="0" cy="5438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8086CC3E-6496-4358-9069-21EC3139E082}"/>
              </a:ext>
            </a:extLst>
          </p:cNvPr>
          <p:cNvSpPr txBox="1"/>
          <p:nvPr/>
        </p:nvSpPr>
        <p:spPr>
          <a:xfrm>
            <a:off x="6613236" y="2597099"/>
            <a:ext cx="446116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Model Validation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Prior to testing, the model was validated with 10-fold cross validation on a portion of the training split not used to develop the model.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Accuracy: 91.58%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F890C2B-C53D-4D9C-BA9C-D9CB22D9DC87}"/>
              </a:ext>
            </a:extLst>
          </p:cNvPr>
          <p:cNvCxnSpPr>
            <a:cxnSpLocks/>
          </p:cNvCxnSpPr>
          <p:nvPr/>
        </p:nvCxnSpPr>
        <p:spPr>
          <a:xfrm>
            <a:off x="4472828" y="3362234"/>
            <a:ext cx="0" cy="5438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6738D70A-E891-49E9-BD17-3511462E639D}"/>
              </a:ext>
            </a:extLst>
          </p:cNvPr>
          <p:cNvSpPr/>
          <p:nvPr/>
        </p:nvSpPr>
        <p:spPr>
          <a:xfrm>
            <a:off x="2038375" y="5192029"/>
            <a:ext cx="2250862" cy="94319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10-Fold Cross Validation</a:t>
            </a: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55D899A0-796F-4B1A-80A1-746FE36E8436}"/>
              </a:ext>
            </a:extLst>
          </p:cNvPr>
          <p:cNvCxnSpPr>
            <a:endCxn id="22" idx="1"/>
          </p:cNvCxnSpPr>
          <p:nvPr/>
        </p:nvCxnSpPr>
        <p:spPr>
          <a:xfrm rot="16200000" flipH="1">
            <a:off x="1392490" y="5017742"/>
            <a:ext cx="814340" cy="47743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285C0AA5-8F10-4E03-A1B1-5C8EDAA4A1A1}"/>
              </a:ext>
            </a:extLst>
          </p:cNvPr>
          <p:cNvCxnSpPr>
            <a:stCxn id="22" idx="3"/>
          </p:cNvCxnSpPr>
          <p:nvPr/>
        </p:nvCxnSpPr>
        <p:spPr>
          <a:xfrm flipV="1">
            <a:off x="4289237" y="4849287"/>
            <a:ext cx="513672" cy="81434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23816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E961F1-4A28-4A5F-BBD4-6E400E5E6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 bwMode="white">
          <a:xfrm>
            <a:off x="0" y="272357"/>
            <a:ext cx="12188824" cy="0"/>
          </a:xfrm>
          <a:prstGeom prst="line">
            <a:avLst/>
          </a:prstGeom>
          <a:ln w="508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7F57BEA8-497D-4AA8-8A18-BDCD696B2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68596"/>
            <a:ext cx="12192000" cy="173555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3D5C7D-B13C-49DF-B68C-FFDCE6900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073" y="489439"/>
            <a:ext cx="11139854" cy="93044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400" dirty="0">
                <a:solidFill>
                  <a:schemeClr val="bg1"/>
                </a:solidFill>
              </a:rPr>
              <a:t>Results: Model Performance</a:t>
            </a:r>
            <a:endParaRPr lang="en-US" sz="34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82415D3-DDE5-4D63-8CB3-23A5EC581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4400" y="1479733"/>
            <a:ext cx="2743200" cy="0"/>
          </a:xfrm>
          <a:prstGeom prst="line">
            <a:avLst/>
          </a:prstGeom>
          <a:ln w="19050">
            <a:solidFill>
              <a:schemeClr val="bg1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D7193FB-6AE6-4B3B-8F89-56B55DD63B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 bwMode="white">
          <a:xfrm>
            <a:off x="0" y="2201402"/>
            <a:ext cx="12188824" cy="0"/>
          </a:xfrm>
          <a:prstGeom prst="line">
            <a:avLst/>
          </a:prstGeom>
          <a:ln w="508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Chart, bar chart&#10;&#10;Description automatically generated">
            <a:extLst>
              <a:ext uri="{FF2B5EF4-FFF2-40B4-BE49-F238E27FC236}">
                <a16:creationId xmlns:a16="http://schemas.microsoft.com/office/drawing/2014/main" id="{5C506982-2B16-41D3-808A-F5334F7E05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3520" y="3168965"/>
            <a:ext cx="4580357" cy="275153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01BD7E44-0B7A-4163-B828-796EC05713C0}"/>
              </a:ext>
            </a:extLst>
          </p:cNvPr>
          <p:cNvSpPr txBox="1"/>
          <p:nvPr/>
        </p:nvSpPr>
        <p:spPr>
          <a:xfrm>
            <a:off x="1034558" y="2559575"/>
            <a:ext cx="446116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Model Validation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After validating the model with a portion of the training data not used in developing the model, the model was then evaluated on the test split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Training Model Validation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dirty="0"/>
              <a:t>Accuracy: 91.58% 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dirty="0"/>
              <a:t>Root Mean Squared Error: .2901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Test Model Performance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dirty="0"/>
              <a:t>Accuracy: 91.41%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dirty="0"/>
              <a:t>RMSE: .2931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Strong performance in predicting different samples of the data shows that the model will perform well on brand new data</a:t>
            </a:r>
          </a:p>
        </p:txBody>
      </p:sp>
    </p:spTree>
    <p:extLst>
      <p:ext uri="{BB962C8B-B14F-4D97-AF65-F5344CB8AC3E}">
        <p14:creationId xmlns:p14="http://schemas.microsoft.com/office/powerpoint/2010/main" val="3938343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7FA33FF-088D-4F16-95A2-2C64D353D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376EFB1-01CF-419F-ABF1-2AF02BBFC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709160" cy="6858000"/>
          </a:xfrm>
          <a:prstGeom prst="rect">
            <a:avLst/>
          </a:prstGeom>
          <a:solidFill>
            <a:schemeClr val="tx1"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F9DEA15-78BD-4750-AA18-B9F28A6D5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284331" cy="6858000"/>
          </a:xfrm>
          <a:custGeom>
            <a:avLst/>
            <a:gdLst>
              <a:gd name="connsiteX0" fmla="*/ 0 w 4319042"/>
              <a:gd name="connsiteY0" fmla="*/ 0 h 6858000"/>
              <a:gd name="connsiteX1" fmla="*/ 1142888 w 4319042"/>
              <a:gd name="connsiteY1" fmla="*/ 0 h 6858000"/>
              <a:gd name="connsiteX2" fmla="*/ 4319042 w 4319042"/>
              <a:gd name="connsiteY2" fmla="*/ 6858000 h 6858000"/>
              <a:gd name="connsiteX3" fmla="*/ 0 w 431904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19042" h="6858000">
                <a:moveTo>
                  <a:pt x="0" y="0"/>
                </a:moveTo>
                <a:lnTo>
                  <a:pt x="1142888" y="0"/>
                </a:lnTo>
                <a:lnTo>
                  <a:pt x="431904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9C3CA9-ACA6-496A-B314-EA284A432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933" y="2914335"/>
            <a:ext cx="2629293" cy="102932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Potential Uses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6AD037-ED28-4102-84E9-2E4C22B296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7491" y="1066613"/>
            <a:ext cx="6024654" cy="2374527"/>
          </a:xfrm>
        </p:spPr>
        <p:txBody>
          <a:bodyPr anchor="ctr">
            <a:normAutofit/>
          </a:bodyPr>
          <a:lstStyle/>
          <a:p>
            <a:pPr lvl="1"/>
            <a:endParaRPr lang="en-US" sz="2300" dirty="0"/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A27807-6754-4FA9-BC4D-F2A7BF237E60}"/>
              </a:ext>
            </a:extLst>
          </p:cNvPr>
          <p:cNvSpPr txBox="1"/>
          <p:nvPr/>
        </p:nvSpPr>
        <p:spPr>
          <a:xfrm>
            <a:off x="5900559" y="1636403"/>
            <a:ext cx="525150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With this logistic regression model, we can potentially predict the presence of coronary heart disease or myocardial infarction at a large scale given that the people provide their health status indicators related to heart disease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Health organizations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At home use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664405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E961F1-4A28-4A5F-BBD4-6E400E5E6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 bwMode="white">
          <a:xfrm>
            <a:off x="0" y="272357"/>
            <a:ext cx="12188824" cy="0"/>
          </a:xfrm>
          <a:prstGeom prst="line">
            <a:avLst/>
          </a:prstGeom>
          <a:ln w="508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7F57BEA8-497D-4AA8-8A18-BDCD696B2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68596"/>
            <a:ext cx="12192000" cy="173555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3D5C7D-B13C-49DF-B68C-FFDCE6900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073" y="489439"/>
            <a:ext cx="11139854" cy="93044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400" dirty="0">
                <a:solidFill>
                  <a:schemeClr val="bg1"/>
                </a:solidFill>
              </a:rPr>
              <a:t>References</a:t>
            </a:r>
            <a:endParaRPr lang="en-US" sz="34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82415D3-DDE5-4D63-8CB3-23A5EC581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4400" y="1479733"/>
            <a:ext cx="2743200" cy="0"/>
          </a:xfrm>
          <a:prstGeom prst="line">
            <a:avLst/>
          </a:prstGeom>
          <a:ln w="19050">
            <a:solidFill>
              <a:schemeClr val="bg1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D7193FB-6AE6-4B3B-8F89-56B55DD63B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 bwMode="white">
          <a:xfrm>
            <a:off x="0" y="2201402"/>
            <a:ext cx="12188824" cy="0"/>
          </a:xfrm>
          <a:prstGeom prst="line">
            <a:avLst/>
          </a:prstGeom>
          <a:ln w="508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1BD7E44-0B7A-4163-B828-796EC05713C0}"/>
              </a:ext>
            </a:extLst>
          </p:cNvPr>
          <p:cNvSpPr txBox="1"/>
          <p:nvPr/>
        </p:nvSpPr>
        <p:spPr>
          <a:xfrm>
            <a:off x="1034558" y="2559575"/>
            <a:ext cx="4461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BC1781-A8A9-4B98-930B-033C5A244730}"/>
              </a:ext>
            </a:extLst>
          </p:cNvPr>
          <p:cNvSpPr txBox="1"/>
          <p:nvPr/>
        </p:nvSpPr>
        <p:spPr>
          <a:xfrm>
            <a:off x="620785" y="2675242"/>
            <a:ext cx="1104514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https://www.kaggle.com/datasets/kamilpytlak/personal-key-indicators-of-heart-disease</a:t>
            </a:r>
            <a:endParaRPr lang="en-US" dirty="0"/>
          </a:p>
          <a:p>
            <a:r>
              <a:rPr lang="en-US" dirty="0">
                <a:hlinkClick r:id="rId3"/>
              </a:rPr>
              <a:t>https://dataaspirant.com/how-logistic-regression-model-works/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7980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1130</TotalTime>
  <Words>626</Words>
  <Application>Microsoft Office PowerPoint</Application>
  <PresentationFormat>Widescreen</PresentationFormat>
  <Paragraphs>110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Courier New</vt:lpstr>
      <vt:lpstr>sohne</vt:lpstr>
      <vt:lpstr>Wingdings</vt:lpstr>
      <vt:lpstr>Office Theme</vt:lpstr>
      <vt:lpstr> Predicting Heart Disease with Personal Health Indicators</vt:lpstr>
      <vt:lpstr>Background Information </vt:lpstr>
      <vt:lpstr>Data Description</vt:lpstr>
      <vt:lpstr>Primary Objectives</vt:lpstr>
      <vt:lpstr>Methodology: Data Preprocessing</vt:lpstr>
      <vt:lpstr>Methodology: Transforming Skewed Numerical Variables</vt:lpstr>
      <vt:lpstr>Methodology: Model Selection</vt:lpstr>
      <vt:lpstr>Methodology: Model Training and Validation</vt:lpstr>
      <vt:lpstr>Methodology: Model Training and Validation</vt:lpstr>
      <vt:lpstr>Results: Model Performance</vt:lpstr>
      <vt:lpstr>Potential Uses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U.S. SBA Paycheck Protection Program</dc:title>
  <dc:creator>James Makanas</dc:creator>
  <cp:lastModifiedBy>Teresita V. Makanas</cp:lastModifiedBy>
  <cp:revision>30</cp:revision>
  <dcterms:created xsi:type="dcterms:W3CDTF">2021-11-15T19:16:06Z</dcterms:created>
  <dcterms:modified xsi:type="dcterms:W3CDTF">2023-10-01T20:57:30Z</dcterms:modified>
</cp:coreProperties>
</file>